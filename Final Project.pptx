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7" r:id="rId14"/>
    <p:sldId id="278" r:id="rId15"/>
    <p:sldId id="268" r:id="rId16"/>
    <p:sldId id="269" r:id="rId17"/>
    <p:sldId id="279" r:id="rId18"/>
    <p:sldId id="270" r:id="rId19"/>
    <p:sldId id="271" r:id="rId20"/>
    <p:sldId id="272" r:id="rId21"/>
    <p:sldId id="273" r:id="rId22"/>
    <p:sldId id="274" r:id="rId23"/>
    <p:sldId id="280" r:id="rId24"/>
    <p:sldId id="281" r:id="rId25"/>
    <p:sldId id="282" r:id="rId26"/>
    <p:sldId id="275" r:id="rId27"/>
    <p:sldId id="276" r:id="rId2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just" defTabSz="457200" rtl="0" fontAlgn="auto" latinLnBrk="0" hangingPunct="0">
      <a:lnSpc>
        <a:spcPct val="2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1pPr>
    <a:lvl2pPr marL="0" marR="0" indent="457200" algn="just" defTabSz="457200" rtl="0" fontAlgn="auto" latinLnBrk="0" hangingPunct="0">
      <a:lnSpc>
        <a:spcPct val="2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2pPr>
    <a:lvl3pPr marL="0" marR="0" indent="914400" algn="just" defTabSz="457200" rtl="0" fontAlgn="auto" latinLnBrk="0" hangingPunct="0">
      <a:lnSpc>
        <a:spcPct val="2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3pPr>
    <a:lvl4pPr marL="0" marR="0" indent="1371600" algn="just" defTabSz="457200" rtl="0" fontAlgn="auto" latinLnBrk="0" hangingPunct="0">
      <a:lnSpc>
        <a:spcPct val="2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4pPr>
    <a:lvl5pPr marL="0" marR="0" indent="1828800" algn="just" defTabSz="457200" rtl="0" fontAlgn="auto" latinLnBrk="0" hangingPunct="0">
      <a:lnSpc>
        <a:spcPct val="2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5pPr>
    <a:lvl6pPr marL="0" marR="0" indent="2286000" algn="just" defTabSz="457200" rtl="0" fontAlgn="auto" latinLnBrk="0" hangingPunct="0">
      <a:lnSpc>
        <a:spcPct val="2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6pPr>
    <a:lvl7pPr marL="0" marR="0" indent="2743200" algn="just" defTabSz="457200" rtl="0" fontAlgn="auto" latinLnBrk="0" hangingPunct="0">
      <a:lnSpc>
        <a:spcPct val="2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7pPr>
    <a:lvl8pPr marL="0" marR="0" indent="3200400" algn="just" defTabSz="457200" rtl="0" fontAlgn="auto" latinLnBrk="0" hangingPunct="0">
      <a:lnSpc>
        <a:spcPct val="2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8pPr>
    <a:lvl9pPr marL="0" marR="0" indent="3657600" algn="just" defTabSz="457200" rtl="0" fontAlgn="auto" latinLnBrk="0" hangingPunct="0">
      <a:lnSpc>
        <a:spcPct val="200000"/>
      </a:lnSpc>
      <a:spcBef>
        <a:spcPts val="0"/>
      </a:spcBef>
      <a:spcAft>
        <a:spcPts val="0"/>
      </a:spcAft>
      <a:buClrTx/>
      <a:buSzTx/>
      <a:buFontTx/>
      <a:buNone/>
      <a:tabLst/>
      <a:defRPr kumimoji="0" sz="19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D6E5F9"/>
          </a:solidFill>
        </a:fill>
      </a:tcStyle>
    </a:wholeTbl>
    <a:band2H>
      <a:tcTxStyle/>
      <a:tcStyle>
        <a:tcBdr/>
        <a:fill>
          <a:solidFill>
            <a:srgbClr val="ECF2FC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wholeTbl>
    <a:band2H>
      <a:tcTxStyle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E2CECD"/>
          </a:solidFill>
        </a:fill>
      </a:tcStyle>
    </a:wholeTbl>
    <a:band2H>
      <a:tcTxStyle/>
      <a:tcStyle>
        <a:tcBdr/>
        <a:fill>
          <a:solidFill>
            <a:srgbClr val="F1E8E8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chemeClr val="accent3">
          <a:lumOff val="44000"/>
        </a:scheme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chemeClr val="accent3">
          <a:lumOff val="44000"/>
        </a:scheme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8" name="Shape 10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400"/>
              </a:spcBef>
              <a:buSzTx/>
              <a:buNone/>
              <a:defRPr sz="1800"/>
            </a:lvl1pPr>
            <a:lvl2pPr marL="0" indent="342900" algn="ctr">
              <a:spcBef>
                <a:spcPts val="400"/>
              </a:spcBef>
              <a:buSzTx/>
              <a:buNone/>
              <a:defRPr sz="1800"/>
            </a:lvl2pPr>
            <a:lvl3pPr marL="0" indent="685800" algn="ctr">
              <a:spcBef>
                <a:spcPts val="400"/>
              </a:spcBef>
              <a:buSzTx/>
              <a:buNone/>
              <a:defRPr sz="1800"/>
            </a:lvl3pPr>
            <a:lvl4pPr marL="0" indent="1028700" algn="ctr">
              <a:spcBef>
                <a:spcPts val="400"/>
              </a:spcBef>
              <a:buSzTx/>
              <a:buNone/>
              <a:defRPr sz="1800"/>
            </a:lvl4pPr>
            <a:lvl5pPr marL="0" indent="1371600" algn="ctr">
              <a:spcBef>
                <a:spcPts val="400"/>
              </a:spcBef>
              <a:buSzTx/>
              <a:buNone/>
              <a:defRPr sz="1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1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1" cy="150018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400"/>
              </a:spcBef>
              <a:buSzTx/>
              <a:buNone/>
              <a:defRPr sz="1800">
                <a:solidFill>
                  <a:srgbClr val="888888"/>
                </a:solidFill>
              </a:defRPr>
            </a:lvl1pPr>
            <a:lvl2pPr marL="0" indent="342900">
              <a:spcBef>
                <a:spcPts val="400"/>
              </a:spcBef>
              <a:buSzTx/>
              <a:buNone/>
              <a:defRPr sz="1800">
                <a:solidFill>
                  <a:srgbClr val="888888"/>
                </a:solidFill>
              </a:defRPr>
            </a:lvl2pPr>
            <a:lvl3pPr marL="0" indent="685800">
              <a:spcBef>
                <a:spcPts val="400"/>
              </a:spcBef>
              <a:buSzTx/>
              <a:buNone/>
              <a:defRPr sz="1800">
                <a:solidFill>
                  <a:srgbClr val="888888"/>
                </a:solidFill>
              </a:defRPr>
            </a:lvl3pPr>
            <a:lvl4pPr marL="0" indent="1028700">
              <a:spcBef>
                <a:spcPts val="400"/>
              </a:spcBef>
              <a:buSzTx/>
              <a:buNone/>
              <a:defRPr sz="1800">
                <a:solidFill>
                  <a:srgbClr val="888888"/>
                </a:solidFill>
              </a:defRPr>
            </a:lvl4pPr>
            <a:lvl5pPr marL="0" indent="1371600">
              <a:spcBef>
                <a:spcPts val="400"/>
              </a:spcBef>
              <a:buSzTx/>
              <a:buNone/>
              <a:defRPr sz="18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09600" y="1600200"/>
            <a:ext cx="5376672" cy="452596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None/>
              <a:defRPr sz="1800" b="1"/>
            </a:lvl1pPr>
            <a:lvl2pPr marL="0" indent="342900">
              <a:spcBef>
                <a:spcPts val="400"/>
              </a:spcBef>
              <a:buSzTx/>
              <a:buNone/>
              <a:defRPr sz="1800" b="1"/>
            </a:lvl2pPr>
            <a:lvl3pPr marL="0" indent="685800">
              <a:spcBef>
                <a:spcPts val="400"/>
              </a:spcBef>
              <a:buSzTx/>
              <a:buNone/>
              <a:defRPr sz="1800" b="1"/>
            </a:lvl3pPr>
            <a:lvl4pPr marL="0" indent="1028700">
              <a:spcBef>
                <a:spcPts val="400"/>
              </a:spcBef>
              <a:buSzTx/>
              <a:buNone/>
              <a:defRPr sz="1800" b="1"/>
            </a:lvl4pPr>
            <a:lvl5pPr marL="0" indent="1371600">
              <a:spcBef>
                <a:spcPts val="400"/>
              </a:spcBef>
              <a:buSzTx/>
              <a:buNone/>
              <a:defRPr sz="18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400"/>
              </a:spcBef>
              <a:buSzTx/>
              <a:buNone/>
              <a:defRPr sz="18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2400"/>
            </a:lvl1pPr>
            <a:lvl2pPr>
              <a:spcBef>
                <a:spcPts val="500"/>
              </a:spcBef>
              <a:defRPr sz="2400"/>
            </a:lvl2pPr>
            <a:lvl3pPr>
              <a:spcBef>
                <a:spcPts val="500"/>
              </a:spcBef>
              <a:defRPr sz="2400"/>
            </a:lvl3pPr>
            <a:lvl4pPr>
              <a:spcBef>
                <a:spcPts val="500"/>
              </a:spcBef>
              <a:defRPr sz="2400"/>
            </a:lvl4pPr>
            <a:lvl5pPr>
              <a:spcBef>
                <a:spcPts val="500"/>
              </a:spcBef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200"/>
              </a:spcBef>
              <a:buSzTx/>
              <a:buNone/>
              <a:defRPr sz="12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"/>
              </a:spcBef>
              <a:buSzTx/>
              <a:buNone/>
              <a:defRPr sz="1200"/>
            </a:lvl1pPr>
            <a:lvl2pPr marL="0" indent="342900">
              <a:spcBef>
                <a:spcPts val="200"/>
              </a:spcBef>
              <a:buSzTx/>
              <a:buNone/>
              <a:defRPr sz="1200"/>
            </a:lvl2pPr>
            <a:lvl3pPr marL="0" indent="685800">
              <a:spcBef>
                <a:spcPts val="200"/>
              </a:spcBef>
              <a:buSzTx/>
              <a:buNone/>
              <a:defRPr sz="1200"/>
            </a:lvl3pPr>
            <a:lvl4pPr marL="0" indent="1028700">
              <a:spcBef>
                <a:spcPts val="200"/>
              </a:spcBef>
              <a:buSzTx/>
              <a:buNone/>
              <a:defRPr sz="1200"/>
            </a:lvl4pPr>
            <a:lvl5pPr marL="0" indent="1371600">
              <a:spcBef>
                <a:spcPts val="200"/>
              </a:spcBef>
              <a:buSzTx/>
              <a:buNone/>
              <a:defRPr sz="1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ustom Layout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280492" y="6245225"/>
            <a:ext cx="301909" cy="288824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lnSpc>
                <a:spcPct val="100000"/>
              </a:lnSpc>
              <a:defRPr sz="1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 1"/>
          <p:cNvSpPr txBox="1">
            <a:spLocks noGrp="1"/>
          </p:cNvSpPr>
          <p:nvPr>
            <p:ph type="ctrTitle"/>
          </p:nvPr>
        </p:nvSpPr>
        <p:spPr>
          <a:xfrm>
            <a:off x="1457319" y="1399709"/>
            <a:ext cx="8827223" cy="1213627"/>
          </a:xfrm>
          <a:prstGeom prst="rect">
            <a:avLst/>
          </a:prstGeom>
        </p:spPr>
        <p:txBody>
          <a:bodyPr/>
          <a:lstStyle>
            <a:lvl1pPr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dirty="0"/>
              <a:t>Helix AI</a:t>
            </a:r>
            <a:endParaRPr dirty="0"/>
          </a:p>
        </p:txBody>
      </p:sp>
      <p:sp>
        <p:nvSpPr>
          <p:cNvPr id="111" name="Subtitle 2"/>
          <p:cNvSpPr txBox="1">
            <a:spLocks noGrp="1"/>
          </p:cNvSpPr>
          <p:nvPr>
            <p:ph type="subTitle" sz="half" idx="1"/>
          </p:nvPr>
        </p:nvSpPr>
        <p:spPr>
          <a:xfrm>
            <a:off x="1161358" y="2398879"/>
            <a:ext cx="9418957" cy="3519806"/>
          </a:xfrm>
          <a:prstGeom prst="rect">
            <a:avLst/>
          </a:prstGeom>
        </p:spPr>
        <p:txBody>
          <a:bodyPr/>
          <a:lstStyle/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>
              <a:spcBef>
                <a:spcPts val="500"/>
              </a:spcBef>
              <a:defRPr sz="23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Team Members: </a:t>
            </a:r>
          </a:p>
          <a:p>
            <a:pPr>
              <a:spcBef>
                <a:spcPts val="500"/>
              </a:spcBef>
              <a:defRPr sz="23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   </a:t>
            </a:r>
            <a:r>
              <a:rPr sz="1800" dirty="0"/>
              <a:t>                   </a:t>
            </a:r>
          </a:p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Rutwik</a:t>
            </a:r>
            <a:r>
              <a:rPr dirty="0"/>
              <a:t> </a:t>
            </a:r>
            <a:r>
              <a:rPr dirty="0" err="1"/>
              <a:t>Bhondave</a:t>
            </a:r>
            <a:r>
              <a:rPr dirty="0"/>
              <a:t>	               Exam. No: CO4004</a:t>
            </a:r>
          </a:p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Amit Jagtap	               Exam. No: CO402</a:t>
            </a:r>
            <a:r>
              <a:rPr lang="en-IN" dirty="0"/>
              <a:t>3</a:t>
            </a:r>
            <a:endParaRPr dirty="0"/>
          </a:p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Priyanshu</a:t>
            </a:r>
            <a:r>
              <a:rPr dirty="0"/>
              <a:t> </a:t>
            </a:r>
            <a:r>
              <a:rPr dirty="0" err="1"/>
              <a:t>Nalawade</a:t>
            </a:r>
            <a:r>
              <a:rPr dirty="0"/>
              <a:t>	Exam. No: CO4038 </a:t>
            </a:r>
          </a:p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Abhishek </a:t>
            </a:r>
            <a:r>
              <a:rPr dirty="0" err="1"/>
              <a:t>Gadilkar</a:t>
            </a:r>
            <a:r>
              <a:rPr dirty="0"/>
              <a:t>	Exam. No: CO4061</a:t>
            </a:r>
          </a:p>
        </p:txBody>
      </p:sp>
      <p:pic>
        <p:nvPicPr>
          <p:cNvPr id="112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932" y="242800"/>
            <a:ext cx="1032388" cy="849389"/>
          </a:xfrm>
          <a:prstGeom prst="rect">
            <a:avLst/>
          </a:prstGeom>
          <a:ln w="12700">
            <a:miter lim="400000"/>
          </a:ln>
        </p:spPr>
      </p:pic>
      <p:sp>
        <p:nvSpPr>
          <p:cNvPr id="113" name="TextBox 5"/>
          <p:cNvSpPr txBox="1"/>
          <p:nvPr/>
        </p:nvSpPr>
        <p:spPr>
          <a:xfrm>
            <a:off x="1599216" y="186083"/>
            <a:ext cx="10592784" cy="1120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b="1"/>
            </a:pPr>
            <a:r>
              <a:rPr dirty="0"/>
              <a:t>KJ’s EDUCATIONAL INSTITUTE TRINITY COLLEGE OF ENGINEERING AND RESEARCH</a:t>
            </a:r>
          </a:p>
          <a:p>
            <a:pPr>
              <a:defRPr sz="1700" b="1"/>
            </a:pPr>
            <a:r>
              <a:rPr dirty="0"/>
              <a:t>       </a:t>
            </a:r>
            <a:r>
              <a:rPr dirty="0">
                <a:solidFill>
                  <a:srgbClr val="FF0000"/>
                </a:solidFill>
              </a:rPr>
              <a:t>   (Accredited by NAAC with A+ Grade Approved by AICTE &amp; Affiliated to </a:t>
            </a:r>
            <a:r>
              <a:rPr dirty="0" err="1">
                <a:solidFill>
                  <a:srgbClr val="FF0000"/>
                </a:solidFill>
              </a:rPr>
              <a:t>sppu</a:t>
            </a:r>
            <a:r>
              <a:rPr dirty="0">
                <a:solidFill>
                  <a:srgbClr val="FF0000"/>
                </a:solidFill>
              </a:rPr>
              <a:t>, Pune)</a:t>
            </a:r>
          </a:p>
        </p:txBody>
      </p:sp>
      <p:sp>
        <p:nvSpPr>
          <p:cNvPr id="114" name="TextBox 6"/>
          <p:cNvSpPr txBox="1"/>
          <p:nvPr/>
        </p:nvSpPr>
        <p:spPr>
          <a:xfrm>
            <a:off x="348931" y="6120648"/>
            <a:ext cx="11494136" cy="372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000" b="1"/>
            </a:lvl1pPr>
          </a:lstStyle>
          <a:p>
            <a:r>
              <a:t>                                                                                                                                Guide: Prof. Snehal Kulkarni</a:t>
            </a:r>
          </a:p>
        </p:txBody>
      </p:sp>
      <p:sp>
        <p:nvSpPr>
          <p:cNvPr id="115" name="TextBox 3"/>
          <p:cNvSpPr txBox="1"/>
          <p:nvPr/>
        </p:nvSpPr>
        <p:spPr>
          <a:xfrm>
            <a:off x="3315785" y="1189555"/>
            <a:ext cx="6581428" cy="421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400" b="1"/>
            </a:lvl1pPr>
          </a:lstStyle>
          <a:p>
            <a:r>
              <a:t>Department of  Computer Engineering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Off val="44000"/>
              </a:schemeClr>
            </a:gs>
            <a:gs pos="50000">
              <a:schemeClr val="accent3">
                <a:lumOff val="44000"/>
              </a:schemeClr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Footer Placeholder 6"/>
          <p:cNvSpPr txBox="1"/>
          <p:nvPr/>
        </p:nvSpPr>
        <p:spPr>
          <a:xfrm>
            <a:off x="9220641" y="6460433"/>
            <a:ext cx="3769361" cy="353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/>
            </a:lvl1pPr>
          </a:lstStyle>
          <a:p>
            <a:endParaRPr dirty="0"/>
          </a:p>
        </p:txBody>
      </p:sp>
      <p:sp>
        <p:nvSpPr>
          <p:cNvPr id="118" name="Title 1"/>
          <p:cNvSpPr txBox="1">
            <a:spLocks noGrp="1"/>
          </p:cNvSpPr>
          <p:nvPr>
            <p:ph type="title"/>
          </p:nvPr>
        </p:nvSpPr>
        <p:spPr>
          <a:xfrm>
            <a:off x="304799" y="397565"/>
            <a:ext cx="10292689" cy="887897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defTabSz="722376">
              <a:defRPr sz="2844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       Introduction</a:t>
            </a:r>
            <a:br>
              <a:rPr dirty="0"/>
            </a:br>
            <a:endParaRPr dirty="0"/>
          </a:p>
        </p:txBody>
      </p:sp>
      <p:sp>
        <p:nvSpPr>
          <p:cNvPr id="119" name="TextBox 3"/>
          <p:cNvSpPr txBox="1"/>
          <p:nvPr/>
        </p:nvSpPr>
        <p:spPr>
          <a:xfrm>
            <a:off x="954938" y="1413583"/>
            <a:ext cx="10104664" cy="3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l">
              <a:lnSpc>
                <a:spcPct val="100000"/>
              </a:lnSpc>
              <a:defRPr sz="2400"/>
            </a:lvl1pPr>
          </a:lstStyle>
          <a:p>
            <a:r>
              <a:t>The AI Refactor Agent is an autonomous, behaviour-preserving code-quality platform that combines a custom transformer-based language model with a five-stage validation pipeline to perform large-scale refactoring of Python codebases without breaking existing functionality. It exposes both a command-line interface and a web dashboard, generates human-readable audit reports in PDF form, and integrates natively with Git to create branches and commits automatically. The system is designed as a modular pipeline of pluggable agents—Planning, Validation, Action, Review—so that individual components can be upgraded or replaced without affecting the rest of the toolchain.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Off val="44000"/>
              </a:schemeClr>
            </a:gs>
            <a:gs pos="50000">
              <a:schemeClr val="accent3">
                <a:lumOff val="44000"/>
              </a:schemeClr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ooter Placeholder 6"/>
          <p:cNvSpPr txBox="1"/>
          <p:nvPr/>
        </p:nvSpPr>
        <p:spPr>
          <a:xfrm>
            <a:off x="9220641" y="6470265"/>
            <a:ext cx="3769361" cy="353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/>
            </a:lvl1pPr>
          </a:lstStyle>
          <a:p>
            <a:endParaRPr dirty="0"/>
          </a:p>
        </p:txBody>
      </p:sp>
      <p:sp>
        <p:nvSpPr>
          <p:cNvPr id="122" name="Title 1"/>
          <p:cNvSpPr txBox="1">
            <a:spLocks noGrp="1"/>
          </p:cNvSpPr>
          <p:nvPr>
            <p:ph type="title"/>
          </p:nvPr>
        </p:nvSpPr>
        <p:spPr>
          <a:xfrm>
            <a:off x="785688" y="-96051"/>
            <a:ext cx="8596632" cy="1256667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                 Motivation</a:t>
            </a:r>
          </a:p>
        </p:txBody>
      </p:sp>
      <p:sp>
        <p:nvSpPr>
          <p:cNvPr id="123" name="Content Placeholder 5"/>
          <p:cNvSpPr txBox="1">
            <a:spLocks noGrp="1"/>
          </p:cNvSpPr>
          <p:nvPr>
            <p:ph type="body" idx="1"/>
          </p:nvPr>
        </p:nvSpPr>
        <p:spPr>
          <a:xfrm>
            <a:off x="536713" y="1094349"/>
            <a:ext cx="10913165" cy="5189115"/>
          </a:xfrm>
          <a:prstGeom prst="rect">
            <a:avLst/>
          </a:prstGeom>
        </p:spPr>
        <p:txBody>
          <a:bodyPr/>
          <a:lstStyle/>
          <a:p>
            <a:pPr algn="just">
              <a:spcBef>
                <a:spcPts val="500"/>
              </a:spcBef>
              <a:buFont typeface="Arial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Developers spend 35–40 % of their time on manual refactoring yet still face an ~8 % regression rate, slowing releases and eroding trust. </a:t>
            </a:r>
          </a:p>
          <a:p>
            <a:pPr algn="just">
              <a:spcBef>
                <a:spcPts val="500"/>
              </a:spcBef>
              <a:buFont typeface="Arial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spcBef>
                <a:spcPts val="500"/>
              </a:spcBef>
              <a:buFont typeface="Arial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Existing AI code generators </a:t>
            </a:r>
            <a:r>
              <a:rPr dirty="0" err="1"/>
              <a:t>prioritise</a:t>
            </a:r>
            <a:r>
              <a:rPr dirty="0"/>
              <a:t> syntactic correctness over </a:t>
            </a:r>
            <a:r>
              <a:rPr dirty="0" err="1"/>
              <a:t>behavioural</a:t>
            </a:r>
            <a:r>
              <a:rPr dirty="0"/>
              <a:t> preservation, breaking unit tests and increasing technical debt.  </a:t>
            </a:r>
          </a:p>
          <a:p>
            <a:pPr algn="just">
              <a:spcBef>
                <a:spcPts val="500"/>
              </a:spcBef>
              <a:buFont typeface="Arial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spcBef>
                <a:spcPts val="500"/>
              </a:spcBef>
              <a:buFont typeface="Arial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An autonomous tool that guarantees ≥97 % test pass-through would cut refactoring effort in half and accelerate safe code evolution.</a:t>
            </a:r>
          </a:p>
          <a:p>
            <a:pPr algn="just">
              <a:spcBef>
                <a:spcPts val="500"/>
              </a:spcBef>
              <a:buFont typeface="Arial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just">
              <a:spcBef>
                <a:spcPts val="500"/>
              </a:spcBef>
              <a:buFont typeface="Arial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separate, unconnected programs create inconsistent standards and lengthy review cycles, delaying releases.  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Off val="44000"/>
              </a:schemeClr>
            </a:gs>
            <a:gs pos="50000">
              <a:schemeClr val="accent3">
                <a:lumOff val="44000"/>
              </a:schemeClr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itle 1"/>
          <p:cNvSpPr txBox="1">
            <a:spLocks noGrp="1"/>
          </p:cNvSpPr>
          <p:nvPr>
            <p:ph type="title"/>
          </p:nvPr>
        </p:nvSpPr>
        <p:spPr>
          <a:xfrm>
            <a:off x="904547" y="-63528"/>
            <a:ext cx="8596670" cy="1320801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              Problem Definition</a:t>
            </a:r>
          </a:p>
        </p:txBody>
      </p:sp>
      <p:sp>
        <p:nvSpPr>
          <p:cNvPr id="126" name="TextBox 3"/>
          <p:cNvSpPr txBox="1"/>
          <p:nvPr/>
        </p:nvSpPr>
        <p:spPr>
          <a:xfrm>
            <a:off x="791154" y="1411765"/>
            <a:ext cx="10609692" cy="35074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171450" indent="-171450" algn="l">
              <a:lnSpc>
                <a:spcPct val="100000"/>
              </a:lnSpc>
              <a:buSzPct val="100000"/>
              <a:buFont typeface="Arial"/>
              <a:buChar char="•"/>
              <a:defRPr sz="2400"/>
            </a:pPr>
            <a:r>
              <a:t>Manual refactoring consumes 35–40 % of developer time and still introduces regressions in ~8 % of changes.  </a:t>
            </a:r>
          </a:p>
          <a:p>
            <a:pPr marL="171450" indent="-171450" algn="l">
              <a:lnSpc>
                <a:spcPct val="100000"/>
              </a:lnSpc>
              <a:buSzPct val="100000"/>
              <a:buFont typeface="Arial"/>
              <a:buChar char="•"/>
              <a:defRPr sz="2400"/>
            </a:pPr>
            <a:endParaRPr/>
          </a:p>
          <a:p>
            <a:pPr marL="171450" indent="-171450" algn="l">
              <a:lnSpc>
                <a:spcPct val="100000"/>
              </a:lnSpc>
              <a:buSzPct val="100000"/>
              <a:buFont typeface="Arial"/>
              <a:buChar char="•"/>
              <a:defRPr sz="2400"/>
            </a:pPr>
            <a:r>
              <a:t>Rule-based IDEs are language-locked and miss context-aware improvements.  </a:t>
            </a:r>
          </a:p>
          <a:p>
            <a:pPr marL="171450" indent="-171450" algn="l">
              <a:lnSpc>
                <a:spcPct val="100000"/>
              </a:lnSpc>
              <a:buSzPct val="100000"/>
              <a:buFont typeface="Arial"/>
              <a:buChar char="•"/>
              <a:defRPr sz="2400"/>
            </a:pPr>
            <a:endParaRPr/>
          </a:p>
          <a:p>
            <a:pPr marL="171450" indent="-171450" algn="l">
              <a:lnSpc>
                <a:spcPct val="100000"/>
              </a:lnSpc>
              <a:buSzPct val="100000"/>
              <a:buFont typeface="Arial"/>
              <a:buChar char="•"/>
              <a:defRPr sz="2400"/>
            </a:pPr>
            <a:r>
              <a:t>Neural code generators prioritise syntax over semantics, breaking unit tests and hidden edge cases.</a:t>
            </a:r>
          </a:p>
          <a:p>
            <a:pPr marL="171450" indent="-171450" algn="l">
              <a:lnSpc>
                <a:spcPct val="100000"/>
              </a:lnSpc>
              <a:buSzPct val="100000"/>
              <a:buFont typeface="Arial"/>
              <a:buChar char="•"/>
              <a:defRPr sz="2400"/>
            </a:pPr>
            <a:endParaRPr/>
          </a:p>
          <a:p>
            <a:pPr marL="171450" indent="-171450" algn="l">
              <a:lnSpc>
                <a:spcPct val="100000"/>
              </a:lnSpc>
              <a:buSzPct val="100000"/>
              <a:buFont typeface="Arial"/>
              <a:buChar char="•"/>
              <a:defRPr sz="2400"/>
            </a:pPr>
            <a:r>
              <a:t>No existing tool provides an audit-proven, behaviour-preserving pipeline that scales across large codebases.</a:t>
            </a:r>
          </a:p>
        </p:txBody>
      </p:sp>
      <p:sp>
        <p:nvSpPr>
          <p:cNvPr id="127" name="Footer Placeholder 6"/>
          <p:cNvSpPr txBox="1"/>
          <p:nvPr/>
        </p:nvSpPr>
        <p:spPr>
          <a:xfrm>
            <a:off x="9220641" y="6460433"/>
            <a:ext cx="3769361" cy="353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/>
            </a:lvl1pPr>
          </a:lstStyle>
          <a:p>
            <a:endParaRPr dirty="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Off val="44000"/>
              </a:schemeClr>
            </a:gs>
            <a:gs pos="50000">
              <a:schemeClr val="accent3">
                <a:lumOff val="44000"/>
              </a:schemeClr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itle 1"/>
          <p:cNvSpPr txBox="1">
            <a:spLocks noGrp="1"/>
          </p:cNvSpPr>
          <p:nvPr>
            <p:ph type="title"/>
          </p:nvPr>
        </p:nvSpPr>
        <p:spPr>
          <a:xfrm>
            <a:off x="677332" y="226140"/>
            <a:ext cx="8596670" cy="1320801"/>
          </a:xfrm>
          <a:prstGeom prst="rect">
            <a:avLst/>
          </a:prstGeom>
        </p:spPr>
        <p:txBody>
          <a:bodyPr/>
          <a:lstStyle/>
          <a:p>
            <a:pPr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      </a:t>
            </a:r>
            <a:r>
              <a:rPr b="1"/>
              <a:t>    Literature Survey</a:t>
            </a:r>
          </a:p>
        </p:txBody>
      </p:sp>
      <p:graphicFrame>
        <p:nvGraphicFramePr>
          <p:cNvPr id="130" name="Table 7"/>
          <p:cNvGraphicFramePr/>
          <p:nvPr/>
        </p:nvGraphicFramePr>
        <p:xfrm>
          <a:off x="559724" y="1862052"/>
          <a:ext cx="11205557" cy="4412255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639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55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8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185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941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0860">
                <a:tc>
                  <a:txBody>
                    <a:bodyPr/>
                    <a:lstStyle/>
                    <a:p>
                      <a:pPr marR="81914" indent="107314" algn="ctr" defTabSz="914400">
                        <a:lnSpc>
                          <a:spcPct val="101000"/>
                        </a:lnSpc>
                        <a:spcBef>
                          <a:spcPts val="500"/>
                        </a:spcBef>
                        <a:defRPr sz="1600" b="1" spc="-4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Sr </a:t>
                      </a:r>
                      <a:r>
                        <a:rPr spc="-75"/>
                        <a:t>No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indent="81914" algn="ctr" defTabSz="914400">
                        <a:spcBef>
                          <a:spcPts val="1200"/>
                        </a:spcBef>
                        <a:defRPr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Reference</a:t>
                      </a:r>
                      <a:r>
                        <a:rPr spc="140"/>
                        <a:t> </a:t>
                      </a:r>
                      <a:r>
                        <a:rPr spc="-10"/>
                        <a:t>(Year)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marR="152400" indent="519430" algn="ctr" defTabSz="914400">
                        <a:lnSpc>
                          <a:spcPct val="101000"/>
                        </a:lnSpc>
                        <a:spcBef>
                          <a:spcPts val="500"/>
                        </a:spcBef>
                        <a:defRPr sz="1600" b="1" spc="-2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Core </a:t>
                      </a:r>
                      <a:r>
                        <a:rPr spc="-30"/>
                        <a:t>Functionality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indent="200025" algn="ctr" defTabSz="914400">
                        <a:spcBef>
                          <a:spcPts val="1200"/>
                        </a:spcBef>
                        <a:defRPr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Key</a:t>
                      </a:r>
                      <a:r>
                        <a:rPr spc="-60"/>
                        <a:t> </a:t>
                      </a:r>
                      <a:r>
                        <a:rPr spc="-10"/>
                        <a:t>Technology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indent="353059" algn="ctr" defTabSz="914400">
                        <a:spcBef>
                          <a:spcPts val="1200"/>
                        </a:spcBef>
                        <a:defRPr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Notes</a:t>
                      </a:r>
                      <a:r>
                        <a:rPr spc="-60"/>
                        <a:t> </a:t>
                      </a:r>
                      <a:r>
                        <a:t>/</a:t>
                      </a:r>
                      <a:r>
                        <a:rPr spc="-75"/>
                        <a:t> </a:t>
                      </a:r>
                      <a:r>
                        <a:rPr spc="-10"/>
                        <a:t>Remarks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331">
                <a:tc>
                  <a:txBody>
                    <a:bodyPr/>
                    <a:lstStyle/>
                    <a:p>
                      <a:pPr algn="ctr" defTabSz="914400">
                        <a:def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 </a:t>
                      </a:r>
                    </a:p>
                    <a:p>
                      <a:pPr algn="ctr" defTabSz="914400">
                        <a:spcBef>
                          <a:spcPts val="100"/>
                        </a:spcBef>
                        <a:def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 </a:t>
                      </a:r>
                    </a:p>
                    <a:p>
                      <a:pPr indent="29209" algn="ctr" defTabSz="914400">
                        <a:defRPr sz="1600" spc="-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800"/>
                        </a:spcBef>
                        <a:def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 </a:t>
                      </a:r>
                    </a:p>
                    <a:p>
                      <a:pPr indent="187325" algn="ctr" defTabSz="914400">
                        <a:lnSpc>
                          <a:spcPct val="102000"/>
                        </a:lnSpc>
                        <a:def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Jain &amp; Chatterjee 2024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100"/>
                        </a:spcBef>
                        <a:def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 </a:t>
                      </a:r>
                    </a:p>
                    <a:p>
                      <a:pPr marL="6350" marR="196214" indent="201929" algn="ctr" defTabSz="914400">
                        <a:lnSpc>
                          <a:spcPct val="102000"/>
                        </a:lnSpc>
                        <a:def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Diff-aware Transformer edits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8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
neural-network trick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100"/>
                        </a:spcBef>
                        <a:def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 </a:t>
                      </a:r>
                    </a:p>
                    <a:p>
                      <a:pPr marL="4445" marR="108585" indent="130809" algn="ctr" defTabSz="914400">
                        <a:lnSpc>
                          <a:spcPct val="102000"/>
                        </a:lnSpc>
                        <a:def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Prints neat diffs but never runs the tests to see if they break.</a:t>
                      </a:r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3905">
                <a:tc>
                  <a:txBody>
                    <a:bodyPr/>
                    <a:lstStyle/>
                    <a:p>
                      <a:pPr algn="ctr" defTabSz="914400">
                        <a:def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 </a:t>
                      </a:r>
                    </a:p>
                    <a:p>
                      <a:pPr algn="ctr" defTabSz="914400">
                        <a:spcBef>
                          <a:spcPts val="300"/>
                        </a:spcBef>
                        <a:def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 </a:t>
                      </a:r>
                    </a:p>
                    <a:p>
                      <a:pPr indent="29209" algn="ctr" defTabSz="914400">
                        <a:defRPr sz="1600" spc="-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2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Zhang et al. 2024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2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CodeBERT-Refactor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200"/>
                        </a:spcBef>
                        <a:def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 </a:t>
                      </a:r>
                    </a:p>
                    <a:p>
                      <a:pPr marR="214629" indent="236220" algn="ctr" defTabSz="914400">
                        <a:lnSpc>
                          <a:spcPct val="101000"/>
                        </a:lnSpc>
                        <a:def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Machine vision, Remote control, Modular design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R="135889" indent="1270" algn="ctr" defTabSz="914400">
                        <a:lnSpc>
                          <a:spcPct val="102000"/>
                        </a:lnSpc>
                        <a:spcBef>
                          <a:spcPts val="9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Big LLM polishes code, no safety net—trusts the AI’s word.</a:t>
                      </a:r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3142"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600"/>
                        </a:spcBef>
                        <a:def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 </a:t>
                      </a:r>
                    </a:p>
                    <a:p>
                      <a:pPr indent="29209" algn="ctr" defTabSz="914400">
                        <a:defRPr sz="1600" spc="-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R="220979" indent="634" algn="ctr" defTabSz="914400">
                        <a:lnSpc>
                          <a:spcPct val="102000"/>
                        </a:lnSpc>
                        <a:spcBef>
                          <a:spcPts val="6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Cummins 2021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394970" marR="152400" indent="-394970" algn="ctr" defTabSz="914400">
                        <a:lnSpc>
                          <a:spcPct val="101000"/>
                        </a:lnSpc>
                        <a:spcBef>
                          <a:spcPts val="13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ML improves code quality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indent="22859" algn="ctr" defTabSz="914400">
                        <a:lnSpc>
                          <a:spcPct val="101000"/>
                        </a:lnSpc>
                        <a:spcBef>
                          <a:spcPts val="13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CodeBERT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R="252095" indent="634" algn="ctr" defTabSz="914400">
                        <a:lnSpc>
                          <a:spcPct val="102000"/>
                        </a:lnSpc>
                        <a:spcBef>
                          <a:spcPts val="6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behaviour guarantee</a:t>
                      </a:r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7493">
                <a:tc>
                  <a:txBody>
                    <a:bodyPr/>
                    <a:lstStyle/>
                    <a:p>
                      <a:pPr algn="ctr" defTabSz="914400">
                        <a:def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 </a:t>
                      </a:r>
                    </a:p>
                    <a:p>
                      <a:pPr algn="ctr" defTabSz="914400">
                        <a:spcBef>
                          <a:spcPts val="300"/>
                        </a:spcBef>
                        <a:def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 </a:t>
                      </a:r>
                    </a:p>
                    <a:p>
                      <a:pPr indent="29209" algn="ctr" defTabSz="914400">
                        <a:defRPr sz="1600" spc="-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4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9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Kim &amp; Park 2025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9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Prompt-driven refactoring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9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GPT-4 fine-tune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2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Syntactic only, breaks tests</a:t>
                      </a:r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7135">
                <a:tc>
                  <a:txBody>
                    <a:bodyPr/>
                    <a:lstStyle/>
                    <a:p>
                      <a:pPr algn="ctr" defTabSz="914400">
                        <a:def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 </a:t>
                      </a:r>
                    </a:p>
                    <a:p>
                      <a:pPr algn="ctr" defTabSz="914400">
                        <a:spcBef>
                          <a:spcPts val="200"/>
                        </a:spcBef>
                        <a:def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 </a:t>
                      </a:r>
                    </a:p>
                    <a:p>
                      <a:pPr indent="29209" algn="ctr" defTabSz="914400">
                        <a:defRPr sz="1600" spc="-5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9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Allamanis 2022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2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LLM code generation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9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Transformer decoder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2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Semantic changes </a:t>
                      </a:r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1" name="Footer Placeholder 6"/>
          <p:cNvSpPr txBox="1"/>
          <p:nvPr/>
        </p:nvSpPr>
        <p:spPr>
          <a:xfrm>
            <a:off x="9220641" y="6460433"/>
            <a:ext cx="3769361" cy="353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/>
            </a:lvl1pPr>
          </a:lstStyle>
          <a:p>
            <a:endParaRPr dirty="0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Off val="44000"/>
              </a:schemeClr>
            </a:gs>
            <a:gs pos="50000">
              <a:schemeClr val="accent3">
                <a:lumOff val="44000"/>
              </a:schemeClr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Box 2"/>
          <p:cNvSpPr txBox="1"/>
          <p:nvPr/>
        </p:nvSpPr>
        <p:spPr>
          <a:xfrm>
            <a:off x="2220133" y="619814"/>
            <a:ext cx="8708431" cy="580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500" b="1"/>
            </a:lvl1pPr>
          </a:lstStyle>
          <a:p>
            <a:r>
              <a:t>Software Requirements Specification</a:t>
            </a:r>
          </a:p>
        </p:txBody>
      </p:sp>
      <p:sp>
        <p:nvSpPr>
          <p:cNvPr id="134" name="TextBox 1"/>
          <p:cNvSpPr txBox="1"/>
          <p:nvPr/>
        </p:nvSpPr>
        <p:spPr>
          <a:xfrm>
            <a:off x="891101" y="1268681"/>
            <a:ext cx="10409798" cy="3785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/>
            </a:pPr>
            <a:endParaRPr/>
          </a:p>
          <a:p>
            <a:pPr marL="342900" indent="-342900">
              <a:buSzPct val="100000"/>
              <a:buFont typeface="Arial"/>
              <a:buChar char="•"/>
              <a:defRPr sz="2400"/>
            </a:pPr>
            <a:r>
              <a:t> Accept Python code via CLI/UI and output valid EditAction suggestions.  </a:t>
            </a:r>
          </a:p>
          <a:p>
            <a:pPr marL="342900" indent="-342900">
              <a:buSzPct val="100000"/>
              <a:buFont typeface="Arial"/>
              <a:buChar char="•"/>
              <a:defRPr sz="2400"/>
            </a:pPr>
            <a:r>
              <a:t> Pass five gates: AST valid, style clean, complexity down, no security issues,  ≥97 % tests pass.  </a:t>
            </a:r>
          </a:p>
          <a:p>
            <a:pPr marL="342900" indent="-342900">
              <a:buSzPct val="100000"/>
              <a:buFont typeface="Arial"/>
              <a:buChar char="•"/>
              <a:defRPr sz="2400"/>
            </a:pPr>
            <a:r>
              <a:t> Respond &lt;3 s/file and export PDF audit + Git commit automatically.  </a:t>
            </a:r>
          </a:p>
          <a:p>
            <a:pPr marL="342900" indent="-342900">
              <a:buSzPct val="100000"/>
              <a:buFont typeface="Arial"/>
              <a:buChar char="•"/>
              <a:defRPr sz="2400"/>
            </a:pPr>
            <a:r>
              <a:t> Deploy by Docker, encrypt traffic, and support SSO for team use.</a:t>
            </a:r>
          </a:p>
        </p:txBody>
      </p:sp>
      <p:sp>
        <p:nvSpPr>
          <p:cNvPr id="135" name="Footer Placeholder 6"/>
          <p:cNvSpPr txBox="1"/>
          <p:nvPr/>
        </p:nvSpPr>
        <p:spPr>
          <a:xfrm>
            <a:off x="9220641" y="6460433"/>
            <a:ext cx="3769361" cy="353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/>
            </a:lvl1pPr>
          </a:lstStyle>
          <a:p>
            <a:endParaRPr dirty="0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Off val="44000"/>
              </a:schemeClr>
            </a:gs>
            <a:gs pos="50000">
              <a:schemeClr val="accent3">
                <a:lumOff val="44000"/>
              </a:schemeClr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Box 2"/>
          <p:cNvSpPr txBox="1"/>
          <p:nvPr/>
        </p:nvSpPr>
        <p:spPr>
          <a:xfrm>
            <a:off x="2129289" y="482470"/>
            <a:ext cx="8532443" cy="605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 b="1"/>
            </a:lvl1pPr>
          </a:lstStyle>
          <a:p>
            <a:r>
              <a:t>Hardware Requirements Specification</a:t>
            </a:r>
          </a:p>
        </p:txBody>
      </p:sp>
      <p:sp>
        <p:nvSpPr>
          <p:cNvPr id="138" name="TextBox 1"/>
          <p:cNvSpPr txBox="1"/>
          <p:nvPr/>
        </p:nvSpPr>
        <p:spPr>
          <a:xfrm>
            <a:off x="1048370" y="1373716"/>
            <a:ext cx="10694281" cy="37856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/>
            </a:pPr>
            <a:endParaRPr/>
          </a:p>
          <a:p>
            <a:pPr marL="342900" indent="-342900">
              <a:buSzPct val="100000"/>
              <a:buFont typeface="Arial"/>
              <a:buChar char="•"/>
              <a:defRPr sz="2400"/>
            </a:pPr>
            <a:r>
              <a:t>CPU: 4-core+ for real-time parsing &amp; validation.</a:t>
            </a:r>
          </a:p>
          <a:p>
            <a:pPr marL="342900" indent="-342900">
              <a:buSzPct val="100000"/>
              <a:buFont typeface="Arial"/>
              <a:buChar char="•"/>
              <a:defRPr sz="2400"/>
            </a:pPr>
            <a:r>
              <a:t>RAM: 8 GB (LibCST + PyTorch); 16 GB recommended for GPU mode.</a:t>
            </a:r>
          </a:p>
          <a:p>
            <a:pPr marL="342900" indent="-342900">
              <a:buSzPct val="100000"/>
              <a:buFont typeface="Arial"/>
              <a:buChar char="•"/>
              <a:defRPr sz="2400"/>
            </a:pPr>
            <a:r>
              <a:t>GPU(optional): 6 GB VRAM (RTX 2060) for transformer inference.</a:t>
            </a:r>
          </a:p>
          <a:p>
            <a:pPr marL="342900" indent="-342900">
              <a:buSzPct val="100000"/>
              <a:buFont typeface="Arial"/>
              <a:buChar char="•"/>
              <a:defRPr sz="2400"/>
            </a:pPr>
            <a:r>
              <a:t>Storage &amp; Network: 10 GB SSD free space; stable 10 Mbps link for Docker pull &amp; Git push.</a:t>
            </a:r>
          </a:p>
        </p:txBody>
      </p:sp>
      <p:sp>
        <p:nvSpPr>
          <p:cNvPr id="139" name="Footer Placeholder 6"/>
          <p:cNvSpPr txBox="1"/>
          <p:nvPr/>
        </p:nvSpPr>
        <p:spPr>
          <a:xfrm>
            <a:off x="9220641" y="6460433"/>
            <a:ext cx="3769361" cy="353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/>
            </a:lvl1pPr>
          </a:lstStyle>
          <a:p>
            <a:endParaRPr dirty="0"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Off val="44000"/>
              </a:schemeClr>
            </a:gs>
            <a:gs pos="50000">
              <a:schemeClr val="accent3">
                <a:lumOff val="44000"/>
              </a:schemeClr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Box 2"/>
          <p:cNvSpPr txBox="1"/>
          <p:nvPr/>
        </p:nvSpPr>
        <p:spPr>
          <a:xfrm>
            <a:off x="4444045" y="286617"/>
            <a:ext cx="6007356" cy="605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 b="1"/>
            </a:pPr>
            <a:r>
              <a:t>Project</a:t>
            </a:r>
            <a:r>
              <a:rPr spc="175"/>
              <a:t> </a:t>
            </a:r>
            <a:r>
              <a:rPr spc="-20"/>
              <a:t>Scope</a:t>
            </a:r>
          </a:p>
        </p:txBody>
      </p:sp>
      <p:sp>
        <p:nvSpPr>
          <p:cNvPr id="142" name="Rectangle 1"/>
          <p:cNvSpPr txBox="1"/>
          <p:nvPr/>
        </p:nvSpPr>
        <p:spPr>
          <a:xfrm>
            <a:off x="504696" y="1243042"/>
            <a:ext cx="11182608" cy="3850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l">
              <a:lnSpc>
                <a:spcPct val="100000"/>
              </a:lnSpc>
              <a:defRPr sz="2400"/>
            </a:pPr>
            <a:endParaRPr/>
          </a:p>
          <a:p>
            <a:pPr algn="l">
              <a:lnSpc>
                <a:spcPct val="100000"/>
              </a:lnSpc>
              <a:defRPr sz="2400"/>
            </a:pPr>
            <a:r>
              <a:t>The AI REFACTOR AGENT project focuses on building an autonomous system that safely improves Python code through intelligent refactoring. It uses a 5-stage agent pipeline (Perceive → Plan → Validate → Act → Explain) to generate grammar-constrained edit programs, ensuring behaviour preservation with 97.2% test pass-through.</a:t>
            </a:r>
          </a:p>
          <a:p>
            <a:pPr algn="l">
              <a:lnSpc>
                <a:spcPct val="100000"/>
              </a:lnSpc>
              <a:defRPr sz="2400"/>
            </a:pPr>
            <a:endParaRPr/>
          </a:p>
          <a:p>
            <a:pPr algn="l">
              <a:lnSpc>
                <a:spcPct val="100000"/>
              </a:lnSpc>
              <a:defRPr sz="2400"/>
            </a:pPr>
            <a:r>
              <a:t>The scope includes micro-refactoring such as variable renaming, unused import removal, and conditional simplification—applied only when complexity reduces by ≥5%, style improves, and all tests pass. The system runs 100% offline, generates explainable suggestions with metrics deltas, and produces audit reports—making it safe, transparent, and practical for real-world development teams.</a:t>
            </a:r>
          </a:p>
        </p:txBody>
      </p:sp>
      <p:sp>
        <p:nvSpPr>
          <p:cNvPr id="143" name="Footer Placeholder 6"/>
          <p:cNvSpPr txBox="1"/>
          <p:nvPr/>
        </p:nvSpPr>
        <p:spPr>
          <a:xfrm>
            <a:off x="9220641" y="6460433"/>
            <a:ext cx="3769361" cy="353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/>
            </a:lvl1pPr>
          </a:lstStyle>
          <a:p>
            <a:endParaRPr dirty="0"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Box 2"/>
          <p:cNvSpPr txBox="1"/>
          <p:nvPr/>
        </p:nvSpPr>
        <p:spPr>
          <a:xfrm>
            <a:off x="4100034" y="180359"/>
            <a:ext cx="6007357" cy="605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 b="1"/>
            </a:pPr>
            <a:r>
              <a:t>Timeline Chart</a:t>
            </a:r>
            <a:r>
              <a:rPr b="0">
                <a:solidFill>
                  <a:srgbClr val="2C89E5"/>
                </a:solidFill>
              </a:rPr>
              <a:t> </a:t>
            </a:r>
          </a:p>
        </p:txBody>
      </p:sp>
      <p:sp>
        <p:nvSpPr>
          <p:cNvPr id="146" name="Footer Placeholder 6"/>
          <p:cNvSpPr txBox="1"/>
          <p:nvPr/>
        </p:nvSpPr>
        <p:spPr>
          <a:xfrm>
            <a:off x="9220641" y="6460433"/>
            <a:ext cx="3769361" cy="353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/>
            </a:lvl1pPr>
          </a:lstStyle>
          <a:p>
            <a:endParaRPr dirty="0"/>
          </a:p>
        </p:txBody>
      </p:sp>
      <p:pic>
        <p:nvPicPr>
          <p:cNvPr id="147" name="1762887251.png" descr="1762887251.png"/>
          <p:cNvPicPr>
            <a:picLocks noChangeAspect="1"/>
          </p:cNvPicPr>
          <p:nvPr/>
        </p:nvPicPr>
        <p:blipFill>
          <a:blip r:embed="rId2"/>
          <a:srcRect t="29392" b="26418"/>
          <a:stretch>
            <a:fillRect/>
          </a:stretch>
        </p:blipFill>
        <p:spPr>
          <a:xfrm>
            <a:off x="1783357" y="1723628"/>
            <a:ext cx="6858001" cy="3030489"/>
          </a:xfrm>
          <a:prstGeom prst="rect">
            <a:avLst/>
          </a:prstGeom>
          <a:ln w="12700">
            <a:miter lim="400000"/>
          </a:ln>
        </p:spPr>
      </p:pic>
      <p:sp>
        <p:nvSpPr>
          <p:cNvPr id="148" name="July 2025"/>
          <p:cNvSpPr txBox="1"/>
          <p:nvPr/>
        </p:nvSpPr>
        <p:spPr>
          <a:xfrm>
            <a:off x="2052533" y="1183706"/>
            <a:ext cx="792111" cy="490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marL="171450" indent="-171450" algn="l">
              <a:lnSpc>
                <a:spcPct val="100000"/>
              </a:lnSpc>
              <a:buSzPct val="100000"/>
              <a:buFont typeface="Arial"/>
              <a:buChar char="•"/>
              <a:defRPr sz="1300"/>
            </a:pPr>
            <a:endParaRPr/>
          </a:p>
          <a:p>
            <a:pPr algn="l">
              <a:lnSpc>
                <a:spcPct val="100000"/>
              </a:lnSpc>
              <a:defRPr sz="1300"/>
            </a:pPr>
            <a:r>
              <a:t>July 2025 </a:t>
            </a:r>
          </a:p>
        </p:txBody>
      </p:sp>
      <p:sp>
        <p:nvSpPr>
          <p:cNvPr id="149" name="Aug 2025"/>
          <p:cNvSpPr txBox="1"/>
          <p:nvPr/>
        </p:nvSpPr>
        <p:spPr>
          <a:xfrm>
            <a:off x="3411433" y="1183706"/>
            <a:ext cx="801221" cy="490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marL="171450" indent="-171450" algn="l">
              <a:lnSpc>
                <a:spcPct val="100000"/>
              </a:lnSpc>
              <a:buSzPct val="100000"/>
              <a:buFont typeface="Arial"/>
              <a:buChar char="•"/>
              <a:defRPr sz="1300"/>
            </a:pPr>
            <a:endParaRPr/>
          </a:p>
          <a:p>
            <a:pPr algn="l">
              <a:lnSpc>
                <a:spcPct val="100000"/>
              </a:lnSpc>
              <a:defRPr sz="1300"/>
            </a:pPr>
            <a:r>
              <a:t>Aug 2025 </a:t>
            </a:r>
          </a:p>
        </p:txBody>
      </p:sp>
      <p:sp>
        <p:nvSpPr>
          <p:cNvPr id="150" name="Sep 2025"/>
          <p:cNvSpPr txBox="1"/>
          <p:nvPr/>
        </p:nvSpPr>
        <p:spPr>
          <a:xfrm>
            <a:off x="4770333" y="1183706"/>
            <a:ext cx="764541" cy="490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marL="171450" indent="-171450" algn="l">
              <a:lnSpc>
                <a:spcPct val="100000"/>
              </a:lnSpc>
              <a:buSzPct val="100000"/>
              <a:buFont typeface="Arial"/>
              <a:buChar char="•"/>
              <a:defRPr sz="1300"/>
            </a:pPr>
            <a:endParaRPr/>
          </a:p>
          <a:p>
            <a:pPr algn="l">
              <a:lnSpc>
                <a:spcPct val="100000"/>
              </a:lnSpc>
              <a:defRPr sz="1300"/>
            </a:pPr>
            <a:r>
              <a:t>Sep 2025 </a:t>
            </a:r>
          </a:p>
        </p:txBody>
      </p:sp>
      <p:sp>
        <p:nvSpPr>
          <p:cNvPr id="151" name="Oct 2025"/>
          <p:cNvSpPr txBox="1"/>
          <p:nvPr/>
        </p:nvSpPr>
        <p:spPr>
          <a:xfrm>
            <a:off x="6129233" y="1183706"/>
            <a:ext cx="755270" cy="490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marL="171450" indent="-171450" algn="l">
              <a:lnSpc>
                <a:spcPct val="100000"/>
              </a:lnSpc>
              <a:buSzPct val="100000"/>
              <a:buFont typeface="Arial"/>
              <a:buChar char="•"/>
              <a:defRPr sz="1300"/>
            </a:pPr>
            <a:endParaRPr/>
          </a:p>
          <a:p>
            <a:pPr algn="l">
              <a:lnSpc>
                <a:spcPct val="100000"/>
              </a:lnSpc>
              <a:defRPr sz="1300"/>
            </a:pPr>
            <a:r>
              <a:t>Oct 2025 </a:t>
            </a:r>
          </a:p>
        </p:txBody>
      </p:sp>
      <p:sp>
        <p:nvSpPr>
          <p:cNvPr id="152" name="Nov 2025"/>
          <p:cNvSpPr txBox="1"/>
          <p:nvPr/>
        </p:nvSpPr>
        <p:spPr>
          <a:xfrm>
            <a:off x="7488133" y="1183706"/>
            <a:ext cx="801221" cy="490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marL="171450" indent="-171450" algn="l">
              <a:lnSpc>
                <a:spcPct val="100000"/>
              </a:lnSpc>
              <a:buSzPct val="100000"/>
              <a:buFont typeface="Arial"/>
              <a:buChar char="•"/>
              <a:defRPr sz="1300"/>
            </a:pPr>
            <a:endParaRPr/>
          </a:p>
          <a:p>
            <a:pPr algn="l">
              <a:lnSpc>
                <a:spcPct val="100000"/>
              </a:lnSpc>
              <a:defRPr sz="1300"/>
            </a:pPr>
            <a:r>
              <a:t>Nov 2025 </a:t>
            </a:r>
          </a:p>
        </p:txBody>
      </p:sp>
      <p:sp>
        <p:nvSpPr>
          <p:cNvPr id="153" name="Dec 2025"/>
          <p:cNvSpPr txBox="1"/>
          <p:nvPr/>
        </p:nvSpPr>
        <p:spPr>
          <a:xfrm>
            <a:off x="2052533" y="4803260"/>
            <a:ext cx="782679" cy="4908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marL="171450" indent="-171450" algn="l">
              <a:lnSpc>
                <a:spcPct val="100000"/>
              </a:lnSpc>
              <a:buSzPct val="100000"/>
              <a:buFont typeface="Arial"/>
              <a:buChar char="•"/>
              <a:defRPr sz="1300"/>
            </a:pPr>
            <a:endParaRPr dirty="0"/>
          </a:p>
          <a:p>
            <a:pPr algn="l">
              <a:lnSpc>
                <a:spcPct val="100000"/>
              </a:lnSpc>
              <a:defRPr sz="1300"/>
            </a:pPr>
            <a:r>
              <a:rPr dirty="0"/>
              <a:t>Dec 2025 </a:t>
            </a:r>
          </a:p>
        </p:txBody>
      </p:sp>
      <p:sp>
        <p:nvSpPr>
          <p:cNvPr id="154" name="Jan 2026"/>
          <p:cNvSpPr txBox="1"/>
          <p:nvPr/>
        </p:nvSpPr>
        <p:spPr>
          <a:xfrm>
            <a:off x="3512587" y="4803260"/>
            <a:ext cx="736970" cy="4908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marL="171450" indent="-171450" algn="l">
              <a:lnSpc>
                <a:spcPct val="100000"/>
              </a:lnSpc>
              <a:buSzPct val="100000"/>
              <a:buFont typeface="Arial"/>
              <a:buChar char="•"/>
              <a:defRPr sz="1300"/>
            </a:pPr>
            <a:endParaRPr dirty="0"/>
          </a:p>
          <a:p>
            <a:pPr algn="l">
              <a:lnSpc>
                <a:spcPct val="100000"/>
              </a:lnSpc>
              <a:defRPr sz="1300"/>
            </a:pPr>
            <a:r>
              <a:rPr dirty="0"/>
              <a:t>Jan 2026 </a:t>
            </a:r>
          </a:p>
        </p:txBody>
      </p:sp>
      <p:sp>
        <p:nvSpPr>
          <p:cNvPr id="155" name="Feb 2026"/>
          <p:cNvSpPr txBox="1"/>
          <p:nvPr/>
        </p:nvSpPr>
        <p:spPr>
          <a:xfrm>
            <a:off x="4756548" y="4803260"/>
            <a:ext cx="2059494" cy="4908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171450" indent="-171450" algn="l">
              <a:lnSpc>
                <a:spcPct val="100000"/>
              </a:lnSpc>
              <a:buSzPct val="100000"/>
              <a:buFont typeface="Arial"/>
              <a:buChar char="•"/>
              <a:defRPr sz="1300"/>
            </a:pPr>
            <a:endParaRPr/>
          </a:p>
          <a:p>
            <a:pPr algn="l">
              <a:lnSpc>
                <a:spcPct val="100000"/>
              </a:lnSpc>
              <a:defRPr sz="1300"/>
            </a:pPr>
            <a:r>
              <a:t>                Feb 2026 </a:t>
            </a:r>
          </a:p>
        </p:txBody>
      </p:sp>
      <p:sp>
        <p:nvSpPr>
          <p:cNvPr id="156" name="Mar 2025"/>
          <p:cNvSpPr txBox="1"/>
          <p:nvPr/>
        </p:nvSpPr>
        <p:spPr>
          <a:xfrm>
            <a:off x="7323033" y="4803260"/>
            <a:ext cx="791950" cy="4908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marL="171450" indent="-171450" algn="l">
              <a:lnSpc>
                <a:spcPct val="100000"/>
              </a:lnSpc>
              <a:buSzPct val="100000"/>
              <a:buFont typeface="Arial"/>
              <a:buChar char="•"/>
              <a:defRPr sz="1300"/>
            </a:pPr>
            <a:endParaRPr/>
          </a:p>
          <a:p>
            <a:pPr algn="l">
              <a:lnSpc>
                <a:spcPct val="100000"/>
              </a:lnSpc>
              <a:defRPr sz="1300"/>
            </a:pPr>
            <a:r>
              <a:t>Mar 2025 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Box 2"/>
          <p:cNvSpPr txBox="1"/>
          <p:nvPr/>
        </p:nvSpPr>
        <p:spPr>
          <a:xfrm>
            <a:off x="3873910" y="117988"/>
            <a:ext cx="2871019" cy="103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3600" b="1"/>
            </a:lvl1pPr>
          </a:lstStyle>
          <a:p>
            <a:r>
              <a:rPr dirty="0"/>
              <a:t>Assumptions</a:t>
            </a:r>
          </a:p>
        </p:txBody>
      </p:sp>
      <p:sp>
        <p:nvSpPr>
          <p:cNvPr id="159" name="TextBox 1"/>
          <p:cNvSpPr txBox="1"/>
          <p:nvPr/>
        </p:nvSpPr>
        <p:spPr>
          <a:xfrm>
            <a:off x="391560" y="1278318"/>
            <a:ext cx="11408880" cy="4200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buSzPct val="100000"/>
              <a:buFont typeface="Arial"/>
              <a:buChar char="•"/>
            </a:pPr>
            <a:r>
              <a:rPr dirty="0"/>
              <a:t>The input Python code is written in Python  and has valid syntax.  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rPr dirty="0"/>
              <a:t>Some level of test coverage (≥40%) exists for the project to validate behavior preservation.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rPr dirty="0"/>
              <a:t>Refactoring suggestions must preserve the original functionality — no semantic changes allowed.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rPr dirty="0"/>
              <a:t>Code quality improvements are measurable using standard metrics (complexity, maintainability, lint, security).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rPr dirty="0"/>
              <a:t>All processing occurs locally — no internet connection or external API calls required.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rPr dirty="0"/>
              <a:t>Developers want safe, explainable refactoring suggestions with clear metrics and risk scores.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rPr dirty="0"/>
              <a:t>The system will be used by developers who understand basic code review and can accept/reject suggestions.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rPr dirty="0"/>
              <a:t>Training data consists of real refactoring pairs from permissively licensed open-source projects </a:t>
            </a:r>
          </a:p>
        </p:txBody>
      </p:sp>
      <p:sp>
        <p:nvSpPr>
          <p:cNvPr id="160" name="Footer Placeholder 6"/>
          <p:cNvSpPr txBox="1"/>
          <p:nvPr/>
        </p:nvSpPr>
        <p:spPr>
          <a:xfrm>
            <a:off x="9122318" y="6461872"/>
            <a:ext cx="3769361" cy="353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/>
            </a:lvl1pPr>
          </a:lstStyle>
          <a:p>
            <a:endParaRPr dirty="0"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Box 2"/>
          <p:cNvSpPr txBox="1"/>
          <p:nvPr/>
        </p:nvSpPr>
        <p:spPr>
          <a:xfrm>
            <a:off x="4472071" y="167287"/>
            <a:ext cx="6878757" cy="605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 b="1"/>
            </a:lvl1pPr>
          </a:lstStyle>
          <a:p>
            <a:r>
              <a:t>Dependencies</a:t>
            </a:r>
          </a:p>
        </p:txBody>
      </p:sp>
      <p:sp>
        <p:nvSpPr>
          <p:cNvPr id="163" name="Footer Placeholder 6"/>
          <p:cNvSpPr txBox="1"/>
          <p:nvPr/>
        </p:nvSpPr>
        <p:spPr>
          <a:xfrm>
            <a:off x="9220641" y="6460433"/>
            <a:ext cx="3769361" cy="353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/>
            </a:lvl1pPr>
          </a:lstStyle>
          <a:p>
            <a:endParaRPr dirty="0"/>
          </a:p>
        </p:txBody>
      </p:sp>
      <p:sp>
        <p:nvSpPr>
          <p:cNvPr id="164" name="TextBox 1"/>
          <p:cNvSpPr txBox="1"/>
          <p:nvPr/>
        </p:nvSpPr>
        <p:spPr>
          <a:xfrm>
            <a:off x="455060" y="1751258"/>
            <a:ext cx="11281880" cy="14500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marL="180473" indent="-180473" algn="l">
              <a:lnSpc>
                <a:spcPct val="100000"/>
              </a:lnSpc>
              <a:buSzPct val="100000"/>
              <a:buFont typeface="Arial"/>
              <a:buChar char="•"/>
              <a:defRPr sz="2400"/>
            </a:lvl1pPr>
          </a:lstStyle>
          <a:p>
            <a:r>
              <a:t>The system depends on LibCST , PyTorch , ruff, bandit, radon and pytest, Streamlit, scikit-learn, transformers, all of which are automatically pulled via Docker Compose on first run. An internet connection is required only during initial model download; thereafter the agent operates fully offline unless Git synchronisation is requested.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Box 3"/>
          <p:cNvSpPr txBox="1"/>
          <p:nvPr/>
        </p:nvSpPr>
        <p:spPr>
          <a:xfrm>
            <a:off x="3029335" y="172910"/>
            <a:ext cx="6015937" cy="605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3600" b="1"/>
            </a:lvl1pPr>
          </a:lstStyle>
          <a:p>
            <a:r>
              <a:t>System Architecture</a:t>
            </a:r>
          </a:p>
        </p:txBody>
      </p:sp>
      <p:sp>
        <p:nvSpPr>
          <p:cNvPr id="167" name="Footer Placeholder 6"/>
          <p:cNvSpPr txBox="1"/>
          <p:nvPr/>
        </p:nvSpPr>
        <p:spPr>
          <a:xfrm>
            <a:off x="9220641" y="6460433"/>
            <a:ext cx="3769361" cy="353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/>
            </a:lvl1pPr>
          </a:lstStyle>
          <a:p>
            <a:endParaRPr dirty="0"/>
          </a:p>
        </p:txBody>
      </p:sp>
      <p:pic>
        <p:nvPicPr>
          <p:cNvPr id="168" name="PHOTO-2025-11-11-22-53-22.jpg" descr="PHOTO-2025-11-11-22-53-22.jpg"/>
          <p:cNvPicPr>
            <a:picLocks noChangeAspect="1"/>
          </p:cNvPicPr>
          <p:nvPr/>
        </p:nvPicPr>
        <p:blipFill>
          <a:blip r:embed="rId2"/>
          <a:srcRect l="3994" r="3994"/>
          <a:stretch>
            <a:fillRect/>
          </a:stretch>
        </p:blipFill>
        <p:spPr>
          <a:xfrm>
            <a:off x="2104103" y="1201797"/>
            <a:ext cx="7356094" cy="537150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6FD6F-3B10-FE6F-CAFC-1B80E1C75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8322"/>
            <a:ext cx="10972800" cy="1435509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</a:t>
            </a:r>
            <a:r>
              <a:rPr lang="en-US" sz="3600" b="1" dirty="0"/>
              <a:t>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5B0127-DE92-126E-3655-548C2A4DD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33832"/>
            <a:ext cx="10972800" cy="4592331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mathematical model is a set of formulas and logic used to represent, analyze, and make decisions in a system.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Formula- (for our project)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Final_Decision =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base_score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semantic_penalty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confidence_penalty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max(0,50 - priority)) x                 						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syntax_pass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∧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lint_pass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∧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behaviour_pass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457200" lvl="1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part → calculates final score of transformation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part → acts as a validation gate (0 or 1) 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validation fails → result becomes 0 → no output (rollback) 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validation passes → safe transformation is accepted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03430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78CB9-AD00-D88A-7018-5EE5D4649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CF09F9-362B-876F-146C-4C672E2E6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14168"/>
            <a:ext cx="10972800" cy="461199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AST Parsing Algorithm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Unlike basic text search, our system mathematically parses the code into a tree structure (Abstract Syntax Tree) to find legacy patterns without breaking the syntax.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Heuristic Optimization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system doesn't just blindly change code. It uses a mathematical "heuristic score" (the Safety Score) to sort, rank, and decide which transformations are safest to optimize first.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Orchestration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It splits the work into a "pipeline" of distinct isolated steps (Analyze → Critique → Plan → Validate) exactly like a robust Expert System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9841196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ectangle 2"/>
          <p:cNvSpPr txBox="1"/>
          <p:nvPr/>
        </p:nvSpPr>
        <p:spPr>
          <a:xfrm>
            <a:off x="2783426" y="656657"/>
            <a:ext cx="7021389" cy="513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3600" b="1"/>
            </a:lvl1pPr>
          </a:lstStyle>
          <a:p>
            <a:r>
              <a:t>Data Flow Diagram (DFD) - Level 0</a:t>
            </a:r>
          </a:p>
        </p:txBody>
      </p:sp>
      <p:sp>
        <p:nvSpPr>
          <p:cNvPr id="171" name="Footer Placeholder 6"/>
          <p:cNvSpPr txBox="1"/>
          <p:nvPr/>
        </p:nvSpPr>
        <p:spPr>
          <a:xfrm>
            <a:off x="9220641" y="6460433"/>
            <a:ext cx="3769361" cy="353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/>
            </a:lvl1pPr>
          </a:lstStyle>
          <a:p>
            <a:endParaRPr dirty="0"/>
          </a:p>
        </p:txBody>
      </p:sp>
      <p:pic>
        <p:nvPicPr>
          <p:cNvPr id="172" name="PHOTO-2025-11-11-23-01-18.jpg" descr="PHOTO-2025-11-11-23-01-18.jpg"/>
          <p:cNvPicPr>
            <a:picLocks noChangeAspect="1"/>
          </p:cNvPicPr>
          <p:nvPr/>
        </p:nvPicPr>
        <p:blipFill>
          <a:blip r:embed="rId2"/>
          <a:srcRect t="18846"/>
          <a:stretch>
            <a:fillRect/>
          </a:stretch>
        </p:blipFill>
        <p:spPr>
          <a:xfrm>
            <a:off x="1925320" y="2282031"/>
            <a:ext cx="8737571" cy="22937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Box 2"/>
          <p:cNvSpPr txBox="1"/>
          <p:nvPr/>
        </p:nvSpPr>
        <p:spPr>
          <a:xfrm>
            <a:off x="2563633" y="446709"/>
            <a:ext cx="7356283" cy="605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 b="1"/>
            </a:lvl1pPr>
          </a:lstStyle>
          <a:p>
            <a:r>
              <a:t>Data Flow Diagram (DFD) - Level 1</a:t>
            </a:r>
          </a:p>
        </p:txBody>
      </p:sp>
      <p:sp>
        <p:nvSpPr>
          <p:cNvPr id="175" name="Footer Placeholder 6"/>
          <p:cNvSpPr txBox="1"/>
          <p:nvPr/>
        </p:nvSpPr>
        <p:spPr>
          <a:xfrm>
            <a:off x="9220641" y="6460433"/>
            <a:ext cx="3769361" cy="353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/>
            </a:lvl1pPr>
          </a:lstStyle>
          <a:p>
            <a:endParaRPr dirty="0"/>
          </a:p>
        </p:txBody>
      </p:sp>
      <p:pic>
        <p:nvPicPr>
          <p:cNvPr id="176" name="PHOTO-2025-11-11-23-01-28.jpg" descr="PHOTO-2025-11-11-23-01-28.jpg"/>
          <p:cNvPicPr>
            <a:picLocks noChangeAspect="1"/>
          </p:cNvPicPr>
          <p:nvPr/>
        </p:nvPicPr>
        <p:blipFill>
          <a:blip r:embed="rId2"/>
          <a:srcRect t="7886"/>
          <a:stretch>
            <a:fillRect/>
          </a:stretch>
        </p:blipFill>
        <p:spPr>
          <a:xfrm>
            <a:off x="1304937" y="1411438"/>
            <a:ext cx="9257185" cy="499671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A302A-40A3-86D3-0D55-513936BC4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7243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7678797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Box 1"/>
          <p:cNvSpPr txBox="1"/>
          <p:nvPr/>
        </p:nvSpPr>
        <p:spPr>
          <a:xfrm>
            <a:off x="4731263" y="417838"/>
            <a:ext cx="4292836" cy="605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 b="1"/>
            </a:lvl1pPr>
          </a:lstStyle>
          <a:p>
            <a:r>
              <a:t>UML Diagrams</a:t>
            </a:r>
          </a:p>
        </p:txBody>
      </p:sp>
      <p:sp>
        <p:nvSpPr>
          <p:cNvPr id="179" name="TextBox 3"/>
          <p:cNvSpPr txBox="1"/>
          <p:nvPr/>
        </p:nvSpPr>
        <p:spPr>
          <a:xfrm>
            <a:off x="336389" y="1023432"/>
            <a:ext cx="7682474" cy="3605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1155700" marR="768984" lvl="2" indent="-241300">
              <a:buSzPct val="100000"/>
              <a:buAutoNum type="arabicPeriod"/>
              <a:tabLst>
                <a:tab pos="1295400" algn="l"/>
              </a:tabLst>
              <a:defRPr b="1" spc="-15"/>
            </a:pPr>
            <a:r>
              <a:t>Use</a:t>
            </a:r>
            <a:r>
              <a:rPr spc="279"/>
              <a:t> </a:t>
            </a:r>
            <a:r>
              <a:t>Case</a:t>
            </a:r>
            <a:r>
              <a:rPr spc="237"/>
              <a:t> </a:t>
            </a:r>
            <a:r>
              <a:rPr spc="-10"/>
              <a:t>Diagram</a:t>
            </a:r>
          </a:p>
        </p:txBody>
      </p:sp>
      <p:sp>
        <p:nvSpPr>
          <p:cNvPr id="180" name="Footer Placeholder 6"/>
          <p:cNvSpPr txBox="1"/>
          <p:nvPr/>
        </p:nvSpPr>
        <p:spPr>
          <a:xfrm>
            <a:off x="9220641" y="6460433"/>
            <a:ext cx="3769361" cy="353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/>
            </a:lvl1pPr>
          </a:lstStyle>
          <a:p>
            <a:endParaRPr dirty="0"/>
          </a:p>
        </p:txBody>
      </p:sp>
      <p:pic>
        <p:nvPicPr>
          <p:cNvPr id="181" name="PHOTO-2025-10-02-23-37-55.jpg" descr="PHOTO-2025-10-02-23-37-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10" y="103714"/>
            <a:ext cx="5766597" cy="67062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Box 2"/>
          <p:cNvSpPr txBox="1"/>
          <p:nvPr/>
        </p:nvSpPr>
        <p:spPr>
          <a:xfrm>
            <a:off x="-440990" y="254031"/>
            <a:ext cx="6003551" cy="360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lvl="2">
              <a:spcBef>
                <a:spcPts val="300"/>
              </a:spcBef>
              <a:tabLst>
                <a:tab pos="1295400" algn="l"/>
              </a:tabLst>
              <a:defRPr b="1" spc="-15"/>
            </a:pPr>
            <a:r>
              <a:t>2.Class</a:t>
            </a:r>
            <a:r>
              <a:rPr spc="68"/>
              <a:t> </a:t>
            </a:r>
            <a:r>
              <a:rPr spc="-10"/>
              <a:t>Diagram</a:t>
            </a:r>
          </a:p>
        </p:txBody>
      </p:sp>
      <p:sp>
        <p:nvSpPr>
          <p:cNvPr id="184" name="Footer Placeholder 6"/>
          <p:cNvSpPr txBox="1"/>
          <p:nvPr/>
        </p:nvSpPr>
        <p:spPr>
          <a:xfrm>
            <a:off x="9014164" y="5850833"/>
            <a:ext cx="3769361" cy="353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/>
            </a:lvl1pPr>
          </a:lstStyle>
          <a:p>
            <a:endParaRPr dirty="0"/>
          </a:p>
        </p:txBody>
      </p:sp>
      <p:pic>
        <p:nvPicPr>
          <p:cNvPr id="185" name="PHOTO-2025-11-11-23-03-24.jpg" descr="PHOTO-2025-11-11-23-03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316" y="171821"/>
            <a:ext cx="7930310" cy="647036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Box 2"/>
          <p:cNvSpPr txBox="1"/>
          <p:nvPr/>
        </p:nvSpPr>
        <p:spPr>
          <a:xfrm>
            <a:off x="-70876" y="144505"/>
            <a:ext cx="6003551" cy="360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lvl="2">
              <a:spcBef>
                <a:spcPts val="300"/>
              </a:spcBef>
              <a:tabLst>
                <a:tab pos="1295400" algn="l"/>
              </a:tabLst>
              <a:defRPr b="1" spc="-15"/>
            </a:pPr>
            <a:r>
              <a:t>3. Sequence</a:t>
            </a:r>
            <a:r>
              <a:rPr spc="63"/>
              <a:t> </a:t>
            </a:r>
            <a:r>
              <a:rPr spc="-10"/>
              <a:t>Diagram</a:t>
            </a:r>
          </a:p>
        </p:txBody>
      </p:sp>
      <p:sp>
        <p:nvSpPr>
          <p:cNvPr id="188" name="Footer Placeholder 6"/>
          <p:cNvSpPr txBox="1"/>
          <p:nvPr/>
        </p:nvSpPr>
        <p:spPr>
          <a:xfrm>
            <a:off x="9207767" y="6486182"/>
            <a:ext cx="3769361" cy="353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/>
            </a:lvl1pPr>
          </a:lstStyle>
          <a:p>
            <a:endParaRPr dirty="0"/>
          </a:p>
        </p:txBody>
      </p:sp>
      <p:pic>
        <p:nvPicPr>
          <p:cNvPr id="189" name="PHOTO-2025-10-02-23-38-58.jpg" descr="PHOTO-2025-10-02-23-38-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631" y="727587"/>
            <a:ext cx="8023230" cy="581057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xtBox 2"/>
          <p:cNvSpPr txBox="1"/>
          <p:nvPr/>
        </p:nvSpPr>
        <p:spPr>
          <a:xfrm>
            <a:off x="-273308" y="149063"/>
            <a:ext cx="6003550" cy="360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lvl="2">
              <a:spcBef>
                <a:spcPts val="300"/>
              </a:spcBef>
              <a:tabLst>
                <a:tab pos="1295400" algn="l"/>
              </a:tabLst>
              <a:defRPr b="1" spc="-15"/>
            </a:pPr>
            <a:r>
              <a:t>4. Activity</a:t>
            </a:r>
            <a:r>
              <a:rPr spc="221"/>
              <a:t> </a:t>
            </a:r>
            <a:r>
              <a:rPr spc="-10"/>
              <a:t>Diagram</a:t>
            </a:r>
          </a:p>
        </p:txBody>
      </p:sp>
      <p:sp>
        <p:nvSpPr>
          <p:cNvPr id="192" name="TextBox 7"/>
          <p:cNvSpPr/>
          <p:nvPr/>
        </p:nvSpPr>
        <p:spPr>
          <a:xfrm rot="16200000">
            <a:off x="5855808" y="5995117"/>
            <a:ext cx="1356435" cy="369333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algn="l">
              <a:lnSpc>
                <a:spcPct val="100000"/>
              </a:lnSpc>
              <a:defRPr sz="1800"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93" name="TextBox 12"/>
          <p:cNvSpPr/>
          <p:nvPr/>
        </p:nvSpPr>
        <p:spPr>
          <a:xfrm>
            <a:off x="6800471" y="5401621"/>
            <a:ext cx="266448" cy="955233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algn="l">
              <a:lnSpc>
                <a:spcPct val="100000"/>
              </a:lnSpc>
              <a:defRPr sz="1800"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94" name="TextBox 32"/>
          <p:cNvSpPr/>
          <p:nvPr/>
        </p:nvSpPr>
        <p:spPr>
          <a:xfrm>
            <a:off x="5417782" y="6416021"/>
            <a:ext cx="1356435" cy="369333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algn="l">
              <a:lnSpc>
                <a:spcPct val="100000"/>
              </a:lnSpc>
              <a:defRPr sz="1800"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95" name="Footer Placeholder 6"/>
          <p:cNvSpPr txBox="1"/>
          <p:nvPr/>
        </p:nvSpPr>
        <p:spPr>
          <a:xfrm>
            <a:off x="9220641" y="6460433"/>
            <a:ext cx="3769361" cy="353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/>
            </a:lvl1pPr>
          </a:lstStyle>
          <a:p>
            <a:endParaRPr dirty="0"/>
          </a:p>
        </p:txBody>
      </p:sp>
      <p:pic>
        <p:nvPicPr>
          <p:cNvPr id="196" name="PHOTO-2025-10-02-23-37-45.jpg" descr="PHOTO-2025-10-02-23-37-45.jpg"/>
          <p:cNvPicPr>
            <a:picLocks noChangeAspect="1"/>
          </p:cNvPicPr>
          <p:nvPr/>
        </p:nvPicPr>
        <p:blipFill>
          <a:blip r:embed="rId2"/>
          <a:srcRect l="369" r="369"/>
          <a:stretch>
            <a:fillRect/>
          </a:stretch>
        </p:blipFill>
        <p:spPr>
          <a:xfrm>
            <a:off x="2032547" y="668594"/>
            <a:ext cx="7270710" cy="607315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extBox 5"/>
          <p:cNvSpPr txBox="1"/>
          <p:nvPr/>
        </p:nvSpPr>
        <p:spPr>
          <a:xfrm>
            <a:off x="46730" y="497439"/>
            <a:ext cx="6003550" cy="360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lvl="2">
              <a:tabLst>
                <a:tab pos="1295400" algn="l"/>
              </a:tabLst>
              <a:defRPr b="1" spc="-15"/>
            </a:pPr>
            <a:r>
              <a:t>6. Component</a:t>
            </a:r>
            <a:r>
              <a:rPr spc="306"/>
              <a:t> </a:t>
            </a:r>
            <a:r>
              <a:rPr spc="-10"/>
              <a:t>Diagram</a:t>
            </a:r>
          </a:p>
        </p:txBody>
      </p:sp>
      <p:sp>
        <p:nvSpPr>
          <p:cNvPr id="199" name="Footer Placeholder 6"/>
          <p:cNvSpPr txBox="1"/>
          <p:nvPr/>
        </p:nvSpPr>
        <p:spPr>
          <a:xfrm>
            <a:off x="9220641" y="6460433"/>
            <a:ext cx="3769361" cy="353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/>
            </a:lvl1pPr>
          </a:lstStyle>
          <a:p>
            <a:endParaRPr dirty="0"/>
          </a:p>
        </p:txBody>
      </p:sp>
      <p:pic>
        <p:nvPicPr>
          <p:cNvPr id="200" name="PHOTO-2025-10-02-23-38-57.jpg" descr="PHOTO-2025-10-02-23-38-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95" y="1150524"/>
            <a:ext cx="10797544" cy="523006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3E3B6-0EEF-8159-CE54-164F5BBB6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C25BBF-755E-61D6-2CF7-D101973EC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Brain (Machine Learning)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used an open-source AI model (Qwen). To make it run on a regular laptop without needing a massive supercomputer, we mathematically compressed it (called 4-bit Quantization).</a:t>
            </a:r>
          </a:p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Engine (Backend)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wrote the core system in Python using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allows the system to process code extremely fast without hanging or freezing.</a:t>
            </a:r>
          </a:p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Architecture (Multi-Agent)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using one massive AI that guesses the answer, we broke the system into a team of specialized "AI Bots" (an Analyzer, Suggester, Critic, and Planner) that double-check each other's work step-by-step.</a:t>
            </a:r>
          </a:p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Security (100% Offline)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code privacy is critical, our system runs entirely on your local machine. It never sends your proprietary code over the internet to places like OpenAI or ChatGPT.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7484213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F11A3-3AD9-7234-1CC9-9E29F0637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342472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0123EE-493B-C186-D53E-F005988D6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1780" y="-245805"/>
            <a:ext cx="10972800" cy="157982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3182900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689CB-E378-1982-ABB3-FD1142550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76980"/>
            <a:ext cx="10972800" cy="103238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6A9D23-9E56-B781-1EAF-04CA173CB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flipV="1">
            <a:off x="12165946" y="6858000"/>
            <a:ext cx="45719" cy="280219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5AF593-0AD8-6DEE-7289-0BBCC53148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511" y="3805084"/>
            <a:ext cx="9471529" cy="30529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E9B836-D1D3-8E07-E6A7-E3B01B9D07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510" y="607142"/>
            <a:ext cx="9471530" cy="319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786509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extBox 2"/>
          <p:cNvSpPr txBox="1"/>
          <p:nvPr/>
        </p:nvSpPr>
        <p:spPr>
          <a:xfrm>
            <a:off x="4255896" y="490537"/>
            <a:ext cx="6003550" cy="605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 b="1"/>
            </a:lvl1pPr>
          </a:lstStyle>
          <a:p>
            <a:r>
              <a:t>CONCLUSION</a:t>
            </a:r>
          </a:p>
        </p:txBody>
      </p:sp>
      <p:sp>
        <p:nvSpPr>
          <p:cNvPr id="203" name="TextBox 3"/>
          <p:cNvSpPr txBox="1"/>
          <p:nvPr/>
        </p:nvSpPr>
        <p:spPr>
          <a:xfrm>
            <a:off x="1957641" y="1427278"/>
            <a:ext cx="9119062" cy="4701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l">
              <a:lnSpc>
                <a:spcPct val="100000"/>
              </a:lnSpc>
              <a:defRPr sz="2300"/>
            </a:pPr>
            <a:endParaRPr/>
          </a:p>
          <a:p>
            <a:pPr algn="l">
              <a:lnSpc>
                <a:spcPct val="100000"/>
              </a:lnSpc>
              <a:defRPr sz="2300"/>
            </a:pPr>
            <a:r>
              <a:t>The AI REFACTOR AGENT successfully delivers a safe, autonomous system for Python code refactoring that treats behavior preservation as a hard constraint. By combining grammar-constrained edit programs with a 5-stage validation pipeline, it achieves 97.2% test pass-through and 0% semantic changes—outperforming commercial tools like Copilot that break functionality in 15.3% of cases.</a:t>
            </a:r>
          </a:p>
          <a:p>
            <a:pPr algn="l">
              <a:lnSpc>
                <a:spcPct val="100000"/>
              </a:lnSpc>
              <a:defRPr sz="2300"/>
            </a:pPr>
            <a:endParaRPr/>
          </a:p>
          <a:p>
            <a:pPr algn="l">
              <a:lnSpc>
                <a:spcPct val="100000"/>
              </a:lnSpc>
              <a:defRPr sz="2300"/>
            </a:pPr>
            <a:r>
              <a:t>The project demonstrates that intelligent refactoring must go beyond free-text generation to include explainable actions, measurable improvements (12.1% complexity reduction), and local/offline operation. This architecture sets a new standard for trustworthy AI-assisted programming, proving that safety-first design enables real-world adoption while maintaining developer control and transparency.</a:t>
            </a:r>
          </a:p>
        </p:txBody>
      </p:sp>
      <p:sp>
        <p:nvSpPr>
          <p:cNvPr id="204" name="Footer Placeholder 6"/>
          <p:cNvSpPr txBox="1"/>
          <p:nvPr/>
        </p:nvSpPr>
        <p:spPr>
          <a:xfrm>
            <a:off x="9220641" y="6460433"/>
            <a:ext cx="3769361" cy="353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/>
            </a:lvl1pPr>
          </a:lstStyle>
          <a:p>
            <a:endParaRPr dirty="0"/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extBox 1"/>
          <p:cNvSpPr txBox="1"/>
          <p:nvPr/>
        </p:nvSpPr>
        <p:spPr>
          <a:xfrm>
            <a:off x="3233896" y="323874"/>
            <a:ext cx="7730920" cy="103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 b="1"/>
            </a:lvl1pPr>
          </a:lstStyle>
          <a:p>
            <a:r>
              <a:t>Paper Publication Certificate</a:t>
            </a:r>
          </a:p>
        </p:txBody>
      </p:sp>
      <p:sp>
        <p:nvSpPr>
          <p:cNvPr id="207" name="Footer Placeholder 6"/>
          <p:cNvSpPr txBox="1"/>
          <p:nvPr/>
        </p:nvSpPr>
        <p:spPr>
          <a:xfrm>
            <a:off x="9293528" y="6581003"/>
            <a:ext cx="3769361" cy="353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/>
            </a:lvl1pPr>
          </a:lstStyle>
          <a:p>
            <a:endParaRPr dirty="0"/>
          </a:p>
        </p:txBody>
      </p:sp>
      <p:pic>
        <p:nvPicPr>
          <p:cNvPr id="208" name="PHOTO-2025-11-11-20-27-16.jpg" descr="PHOTO-2025-11-11-20-27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793" y="1217346"/>
            <a:ext cx="5628359" cy="523261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Default Design">
  <a:themeElements>
    <a:clrScheme name="Default Desig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7DB6EF"/>
      </a:accent1>
      <a:accent2>
        <a:srgbClr val="C0504D"/>
      </a:accent2>
      <a:accent3>
        <a:srgbClr val="8F8F8F"/>
      </a:accent3>
      <a:accent4>
        <a:srgbClr val="707070"/>
      </a:accent4>
      <a:accent5>
        <a:srgbClr val="C0D7F5"/>
      </a:accent5>
      <a:accent6>
        <a:srgbClr val="AC4744"/>
      </a:accent6>
      <a:hlink>
        <a:srgbClr val="0000FF"/>
      </a:hlink>
      <a:folHlink>
        <a:srgbClr val="FF00FF"/>
      </a:folHlink>
    </a:clrScheme>
    <a:fontScheme name="Default Design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Default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Off val="44000"/>
          </a:schemeClr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just" defTabSz="457200" rtl="0" fontAlgn="auto" latinLnBrk="0" hangingPunct="0">
          <a:lnSpc>
            <a:spcPct val="2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9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Default Design">
  <a:themeElements>
    <a:clrScheme name="Default Desig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7DB6EF"/>
      </a:accent1>
      <a:accent2>
        <a:srgbClr val="C0504D"/>
      </a:accent2>
      <a:accent3>
        <a:srgbClr val="8F8F8F"/>
      </a:accent3>
      <a:accent4>
        <a:srgbClr val="707070"/>
      </a:accent4>
      <a:accent5>
        <a:srgbClr val="C0D7F5"/>
      </a:accent5>
      <a:accent6>
        <a:srgbClr val="AC4744"/>
      </a:accent6>
      <a:hlink>
        <a:srgbClr val="0000FF"/>
      </a:hlink>
      <a:folHlink>
        <a:srgbClr val="FF00FF"/>
      </a:folHlink>
    </a:clrScheme>
    <a:fontScheme name="Default Design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Default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Off val="44000"/>
          </a:schemeClr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just" defTabSz="457200" rtl="0" fontAlgn="auto" latinLnBrk="0" hangingPunct="0">
          <a:lnSpc>
            <a:spcPct val="2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9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1451</Words>
  <Application>Microsoft Office PowerPoint</Application>
  <PresentationFormat>Widescreen</PresentationFormat>
  <Paragraphs>159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Times New Roman</vt:lpstr>
      <vt:lpstr>Default Design</vt:lpstr>
      <vt:lpstr>Helix AI</vt:lpstr>
      <vt:lpstr>       Introduction </vt:lpstr>
      <vt:lpstr>                 Motivation</vt:lpstr>
      <vt:lpstr>              Problem Definition</vt:lpstr>
      <vt:lpstr>                Literature Survey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Mathematical Model</vt:lpstr>
      <vt:lpstr>Algorithm</vt:lpstr>
      <vt:lpstr>PowerPoint Presentation</vt:lpstr>
      <vt:lpstr>PowerPoint Presentation</vt:lpstr>
      <vt:lpstr>UML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Implementation</vt:lpstr>
      <vt:lpstr>User Interface</vt:lpstr>
      <vt:lpstr>Performance Analysis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SURESH NALAWADE</cp:lastModifiedBy>
  <cp:revision>5</cp:revision>
  <dcterms:modified xsi:type="dcterms:W3CDTF">2026-04-09T09:02:18Z</dcterms:modified>
</cp:coreProperties>
</file>